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61520" cy="6858000"/>
  <p:notesSz cx="6858000" cy="1216152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5C12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365760"/>
            <a:ext cx="1005840" cy="1005840"/>
          </a:xfrm>
          <a:prstGeom prst="ellipse">
            <a:avLst/>
          </a:prstGeom>
          <a:ln w="12700">
            <a:solidFill>
              <a:srgbClr val="A640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275320" y="-137160"/>
            <a:ext cx="2011680" cy="2011680"/>
          </a:xfrm>
          <a:prstGeom prst="ellipse">
            <a:avLst/>
          </a:prstGeom>
          <a:ln w="12700">
            <a:solidFill>
              <a:srgbClr val="A6403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0" y="-640080"/>
            <a:ext cx="3017520" cy="3017520"/>
          </a:xfrm>
          <a:prstGeom prst="ellipse">
            <a:avLst/>
          </a:prstGeom>
          <a:ln w="12700">
            <a:solidFill>
              <a:srgbClr val="A6403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269480" y="-1143000"/>
            <a:ext cx="4023360" cy="4023360"/>
          </a:xfrm>
          <a:prstGeom prst="ellipse">
            <a:avLst/>
          </a:prstGeom>
          <a:ln w="12700">
            <a:solidFill>
              <a:srgbClr val="A640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5486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PRESENTATION  •  CSA17  •  CO5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2103120"/>
            <a:ext cx="987552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Multi-Agent System for</a:t>
            </a:r>
            <a:endParaRPr lang="en-US" sz="4400" dirty="0"/>
          </a:p>
          <a:p>
            <a:pPr indent="0" marL="0">
              <a:lnSpc>
                <a:spcPts val="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Disaster Management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640080" y="429768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E8D9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Coordinating sensor, decision, and communication agents for real-time detection and response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40080" y="5074920"/>
            <a:ext cx="1097280" cy="0"/>
          </a:xfrm>
          <a:prstGeom prst="line">
            <a:avLst/>
          </a:prstGeom>
          <a:noFill/>
          <a:ln w="38100">
            <a:solidFill>
              <a:srgbClr val="E8A33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5989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S. Chandra Shekhar   •   Akhil   •   Santhosh   •   Mujeeb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0080" y="63550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B9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for Assessment Tool 3  |  Annexure A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C1D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We'll Cover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78308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554480" y="1801368"/>
            <a:ext cx="6949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Disaster Management Challenge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554480" y="2167128"/>
            <a:ext cx="7223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single-agent systems fall short in crisis scenarios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640080" y="269748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1554480" y="2715768"/>
            <a:ext cx="6949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System Fundamentals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554480" y="3081528"/>
            <a:ext cx="7223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concepts, agent roles, and design rationale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640080" y="361188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1554480" y="3630168"/>
            <a:ext cx="6949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1554480" y="3995928"/>
            <a:ext cx="7223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sensor, decision, and communication agents connect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40080" y="452628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1554480" y="4544568"/>
            <a:ext cx="6949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Coordination &amp; Real-Time Decisioning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554480" y="4910328"/>
            <a:ext cx="7223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sharing strategies and response workflows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640080" y="544068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1554480" y="5458968"/>
            <a:ext cx="6949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 Walkthrough &amp; Conclusion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554480" y="5824728"/>
            <a:ext cx="7223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flow during a live disaster event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9052560" y="0"/>
            <a:ext cx="3108960" cy="6858000"/>
          </a:xfrm>
          <a:prstGeom prst="rect">
            <a:avLst/>
          </a:prstGeom>
          <a:solidFill>
            <a:srgbClr val="F3EDE4"/>
          </a:solidFill>
          <a:ln/>
        </p:spPr>
      </p:sp>
      <p:sp>
        <p:nvSpPr>
          <p:cNvPr id="20" name="Text 18"/>
          <p:cNvSpPr/>
          <p:nvPr/>
        </p:nvSpPr>
        <p:spPr>
          <a:xfrm>
            <a:off x="9326880" y="274320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8C1D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CO5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9326880" y="3246120"/>
            <a:ext cx="256032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AI-based systems using PySpark, RDD operations, and intelligent agent architectures across scalable, distributed applications.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9A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C1D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CHALLENGE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70408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en-US" sz="27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Disasters Don't Wait for a</a:t>
            </a:r>
            <a:endParaRPr lang="en-US" sz="2700" dirty="0"/>
          </a:p>
          <a:p>
            <a:pPr indent="0" marL="0">
              <a:lnSpc>
                <a:spcPts val="3200"/>
              </a:lnSpc>
              <a:buNone/>
            </a:pPr>
            <a:r>
              <a:rPr lang="en-US" sz="27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Single Point of Analysis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40080" y="2057400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Floods, earthquakes, and wildfires generate massive, fast-moving, and heterogeneous data — seismic readings, water levels, satellite imagery, social media reports. A centralized system becomes a bottleneck and a single point of failure exactly when speed and resilience matter most.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3337560"/>
            <a:ext cx="2148840" cy="1280160"/>
          </a:xfrm>
          <a:prstGeom prst="roundRect">
            <a:avLst>
              <a:gd name="adj" fmla="val 5714"/>
            </a:avLst>
          </a:prstGeom>
          <a:solidFill>
            <a:srgbClr val="F3EDE4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3438144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8C1D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&lt;3 min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77240" y="4005072"/>
            <a:ext cx="1874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detection-to-alert window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71800" y="3337560"/>
            <a:ext cx="2148840" cy="1280160"/>
          </a:xfrm>
          <a:prstGeom prst="roundRect">
            <a:avLst>
              <a:gd name="adj" fmla="val 5714"/>
            </a:avLst>
          </a:prstGeom>
          <a:solidFill>
            <a:srgbClr val="F3EDE4"/>
          </a:solidFill>
          <a:ln/>
        </p:spPr>
      </p:sp>
      <p:sp>
        <p:nvSpPr>
          <p:cNvPr id="9" name="Text 7"/>
          <p:cNvSpPr/>
          <p:nvPr/>
        </p:nvSpPr>
        <p:spPr>
          <a:xfrm>
            <a:off x="2971800" y="3438144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8C1D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1000s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3108960" y="4005072"/>
            <a:ext cx="1874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sensor/social data points per second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303520" y="3337560"/>
            <a:ext cx="2148840" cy="1280160"/>
          </a:xfrm>
          <a:prstGeom prst="roundRect">
            <a:avLst>
              <a:gd name="adj" fmla="val 5714"/>
            </a:avLst>
          </a:prstGeom>
          <a:solidFill>
            <a:srgbClr val="F3EDE4"/>
          </a:solidFill>
          <a:ln/>
        </p:spPr>
      </p:sp>
      <p:sp>
        <p:nvSpPr>
          <p:cNvPr id="12" name="Text 10"/>
          <p:cNvSpPr/>
          <p:nvPr/>
        </p:nvSpPr>
        <p:spPr>
          <a:xfrm>
            <a:off x="5303520" y="3438144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8C1D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24/7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5440680" y="4005072"/>
            <a:ext cx="1874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monitoring required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40080" y="48463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 Multi-Agent Approach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0080" y="5212080"/>
            <a:ext cx="69494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8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Distributes sensing, reasoning, and communication across specialized autonomous agents</a:t>
            </a:r>
            <a:endParaRPr lang="en-US" sz="1200" dirty="0"/>
          </a:p>
          <a:p>
            <a:pPr marL="342900" indent="-342900">
              <a:lnSpc>
                <a:spcPts val="18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Enables parallel, real-time processing instead of one overloaded controller</a:t>
            </a:r>
            <a:endParaRPr lang="en-US" sz="1200" dirty="0"/>
          </a:p>
          <a:p>
            <a:pPr marL="342900" indent="-342900">
              <a:lnSpc>
                <a:spcPts val="18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Keeps operating even if individual nodes or regions go offline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001000" y="0"/>
            <a:ext cx="4160520" cy="6858000"/>
          </a:xfrm>
          <a:prstGeom prst="rect">
            <a:avLst/>
          </a:prstGeom>
          <a:solidFill>
            <a:srgbClr val="5C1210"/>
          </a:solidFill>
          <a:ln/>
        </p:spPr>
      </p:sp>
      <p:sp>
        <p:nvSpPr>
          <p:cNvPr id="17" name="Shape 15"/>
          <p:cNvSpPr/>
          <p:nvPr/>
        </p:nvSpPr>
        <p:spPr>
          <a:xfrm>
            <a:off x="8503920" y="1645920"/>
            <a:ext cx="3108960" cy="3108960"/>
          </a:xfrm>
          <a:prstGeom prst="ellipse">
            <a:avLst/>
          </a:prstGeom>
          <a:ln w="12700">
            <a:solidFill>
              <a:srgbClr val="A6403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915400" y="2057400"/>
            <a:ext cx="2286000" cy="2286000"/>
          </a:xfrm>
          <a:prstGeom prst="ellipse">
            <a:avLst/>
          </a:prstGeom>
          <a:ln w="12700">
            <a:solidFill>
              <a:srgbClr val="A6403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326880" y="2468880"/>
            <a:ext cx="1463040" cy="1463040"/>
          </a:xfrm>
          <a:prstGeom prst="ellipse">
            <a:avLst/>
          </a:prstGeom>
          <a:ln w="25400">
            <a:solidFill>
              <a:srgbClr val="E8A33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802368" y="2944368"/>
            <a:ext cx="512064" cy="512064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21" name="Text 19"/>
          <p:cNvSpPr/>
          <p:nvPr/>
        </p:nvSpPr>
        <p:spPr>
          <a:xfrm>
            <a:off x="8686800" y="493776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E8D9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Disaster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i="1" dirty="0">
                <a:solidFill>
                  <a:srgbClr val="E8D9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Zone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B9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C1D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FUNDAMENTALS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a Multi-Agent System?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554480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4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Multi-Agent System (MAS) is a collection of autonomous agents that each perceive their environment, reason independently, and act — while coordinating with one another to achieve a shared goal that no single agent could accomplish alone.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40080" y="2651760"/>
            <a:ext cx="2697480" cy="3291840"/>
          </a:xfrm>
          <a:prstGeom prst="roundRect">
            <a:avLst>
              <a:gd name="adj" fmla="val 2712"/>
            </a:avLst>
          </a:prstGeom>
          <a:solidFill>
            <a:srgbClr val="F3EDE4"/>
          </a:solidFill>
          <a:ln w="12700">
            <a:solidFill>
              <a:srgbClr val="E5DCD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2926080"/>
            <a:ext cx="548640" cy="548640"/>
          </a:xfrm>
          <a:prstGeom prst="ellipse">
            <a:avLst/>
          </a:prstGeom>
          <a:solidFill>
            <a:srgbClr val="8C1D18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9260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68680" y="365760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Autonomy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68680" y="4023360"/>
            <a:ext cx="224028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agent perceives and acts on its own, without waiting for central instruction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474720" y="2651760"/>
            <a:ext cx="2697480" cy="3291840"/>
          </a:xfrm>
          <a:prstGeom prst="roundRect">
            <a:avLst>
              <a:gd name="adj" fmla="val 2712"/>
            </a:avLst>
          </a:prstGeom>
          <a:solidFill>
            <a:srgbClr val="FFFFFF"/>
          </a:solidFill>
          <a:ln w="12700">
            <a:solidFill>
              <a:srgbClr val="E5DCD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749040" y="2926080"/>
            <a:ext cx="548640" cy="548640"/>
          </a:xfrm>
          <a:prstGeom prst="ellipse">
            <a:avLst/>
          </a:prstGeom>
          <a:solidFill>
            <a:srgbClr val="8C1D18"/>
          </a:solidFill>
          <a:ln/>
        </p:spPr>
      </p:sp>
      <p:sp>
        <p:nvSpPr>
          <p:cNvPr id="12" name="Text 10"/>
          <p:cNvSpPr/>
          <p:nvPr/>
        </p:nvSpPr>
        <p:spPr>
          <a:xfrm>
            <a:off x="3749040" y="29260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703320" y="365760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Specialization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703320" y="4023360"/>
            <a:ext cx="224028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Sensor, decision, and communication agents each own a distinct responsibility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309360" y="2651760"/>
            <a:ext cx="2697480" cy="3291840"/>
          </a:xfrm>
          <a:prstGeom prst="roundRect">
            <a:avLst>
              <a:gd name="adj" fmla="val 2712"/>
            </a:avLst>
          </a:prstGeom>
          <a:solidFill>
            <a:srgbClr val="F3EDE4"/>
          </a:solidFill>
          <a:ln w="12700">
            <a:solidFill>
              <a:srgbClr val="E5DCD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583680" y="2926080"/>
            <a:ext cx="548640" cy="548640"/>
          </a:xfrm>
          <a:prstGeom prst="ellipse">
            <a:avLst/>
          </a:prstGeom>
          <a:solidFill>
            <a:srgbClr val="8C1D18"/>
          </a:solidFill>
          <a:ln/>
        </p:spPr>
      </p:sp>
      <p:sp>
        <p:nvSpPr>
          <p:cNvPr id="17" name="Text 15"/>
          <p:cNvSpPr/>
          <p:nvPr/>
        </p:nvSpPr>
        <p:spPr>
          <a:xfrm>
            <a:off x="6583680" y="29260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537960" y="365760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Coordination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537960" y="4023360"/>
            <a:ext cx="224028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exchange information and negotiate to keep actions consistent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9144000" y="2651760"/>
            <a:ext cx="2697480" cy="3291840"/>
          </a:xfrm>
          <a:prstGeom prst="roundRect">
            <a:avLst>
              <a:gd name="adj" fmla="val 2712"/>
            </a:avLst>
          </a:prstGeom>
          <a:solidFill>
            <a:srgbClr val="FFFFFF"/>
          </a:solidFill>
          <a:ln w="12700">
            <a:solidFill>
              <a:srgbClr val="E5DCD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418320" y="2926080"/>
            <a:ext cx="548640" cy="548640"/>
          </a:xfrm>
          <a:prstGeom prst="ellipse">
            <a:avLst/>
          </a:prstGeom>
          <a:solidFill>
            <a:srgbClr val="8C1D18"/>
          </a:solidFill>
          <a:ln/>
        </p:spPr>
      </p:sp>
      <p:sp>
        <p:nvSpPr>
          <p:cNvPr id="22" name="Text 20"/>
          <p:cNvSpPr/>
          <p:nvPr/>
        </p:nvSpPr>
        <p:spPr>
          <a:xfrm>
            <a:off x="9418320" y="29260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9372600" y="365760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Reactivity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9372600" y="4023360"/>
            <a:ext cx="224028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respond to environment changes in real time as streaming data arrives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9A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B2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DESIGN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Three-Agent Architecture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2011680"/>
            <a:ext cx="2926080" cy="1463040"/>
          </a:xfrm>
          <a:prstGeom prst="roundRect">
            <a:avLst>
              <a:gd name="adj" fmla="val 5000"/>
            </a:avLst>
          </a:prstGeom>
          <a:solidFill>
            <a:srgbClr val="3A3A3A"/>
          </a:solidFill>
          <a:ln w="25400">
            <a:solidFill>
              <a:srgbClr val="E8A33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51560" y="2212848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E8A33D"/>
          </a:solidFill>
          <a:ln/>
        </p:spPr>
      </p:sp>
      <p:sp>
        <p:nvSpPr>
          <p:cNvPr id="6" name="Text 4"/>
          <p:cNvSpPr/>
          <p:nvPr/>
        </p:nvSpPr>
        <p:spPr>
          <a:xfrm>
            <a:off x="1051560" y="2724912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Agents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1051560" y="306324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9C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Perceive &amp; stream data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709160" y="2011680"/>
            <a:ext cx="2926080" cy="1463040"/>
          </a:xfrm>
          <a:prstGeom prst="roundRect">
            <a:avLst>
              <a:gd name="adj" fmla="val 5000"/>
            </a:avLst>
          </a:prstGeom>
          <a:solidFill>
            <a:srgbClr val="3A3A3A"/>
          </a:solidFill>
          <a:ln w="25400">
            <a:solidFill>
              <a:srgbClr val="8C1D1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937760" y="2212848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8C1D18"/>
          </a:solidFill>
          <a:ln/>
        </p:spPr>
      </p:sp>
      <p:sp>
        <p:nvSpPr>
          <p:cNvPr id="10" name="Text 8"/>
          <p:cNvSpPr/>
          <p:nvPr/>
        </p:nvSpPr>
        <p:spPr>
          <a:xfrm>
            <a:off x="4937760" y="2724912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Agents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4937760" y="306324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9C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&amp; plan response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8595360" y="2011680"/>
            <a:ext cx="2926080" cy="1463040"/>
          </a:xfrm>
          <a:prstGeom prst="roundRect">
            <a:avLst>
              <a:gd name="adj" fmla="val 5000"/>
            </a:avLst>
          </a:prstGeom>
          <a:solidFill>
            <a:srgbClr val="3A3A3A"/>
          </a:solidFill>
          <a:ln w="25400">
            <a:solidFill>
              <a:srgbClr val="44556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823960" y="2212848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445566"/>
          </a:solidFill>
          <a:ln/>
        </p:spPr>
      </p:sp>
      <p:sp>
        <p:nvSpPr>
          <p:cNvPr id="14" name="Text 12"/>
          <p:cNvSpPr/>
          <p:nvPr/>
        </p:nvSpPr>
        <p:spPr>
          <a:xfrm>
            <a:off x="8823960" y="2724912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 Agents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8823960" y="306324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9C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Coordinate &amp; alert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749040" y="2743200"/>
            <a:ext cx="960120" cy="0"/>
          </a:xfrm>
          <a:prstGeom prst="line">
            <a:avLst/>
          </a:prstGeom>
          <a:noFill/>
          <a:ln w="19050">
            <a:solidFill>
              <a:srgbClr val="8A8A8A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7635240" y="2743200"/>
            <a:ext cx="960120" cy="0"/>
          </a:xfrm>
          <a:prstGeom prst="line">
            <a:avLst/>
          </a:prstGeom>
          <a:noFill/>
          <a:ln w="19050">
            <a:solidFill>
              <a:srgbClr val="8A8A8A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10058400" y="2011680"/>
            <a:ext cx="0" cy="-548640"/>
          </a:xfrm>
          <a:prstGeom prst="line">
            <a:avLst/>
          </a:prstGeom>
          <a:noFill/>
          <a:ln/>
        </p:spPr>
      </p:sp>
      <p:sp>
        <p:nvSpPr>
          <p:cNvPr id="19" name="Shape 17"/>
          <p:cNvSpPr/>
          <p:nvPr/>
        </p:nvSpPr>
        <p:spPr>
          <a:xfrm>
            <a:off x="6172200" y="4023360"/>
            <a:ext cx="0" cy="502920"/>
          </a:xfrm>
          <a:prstGeom prst="line">
            <a:avLst/>
          </a:prstGeom>
          <a:noFill/>
          <a:ln w="19050">
            <a:solidFill>
              <a:srgbClr val="8A8A8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160520" y="4572000"/>
            <a:ext cx="3840480" cy="1417320"/>
          </a:xfrm>
          <a:prstGeom prst="roundRect">
            <a:avLst>
              <a:gd name="adj" fmla="val 5161"/>
            </a:avLst>
          </a:prstGeom>
          <a:solidFill>
            <a:srgbClr val="2E5F52"/>
          </a:solidFill>
          <a:ln w="19050">
            <a:solidFill>
              <a:srgbClr val="5FA98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389120" y="470916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Situational Data Layer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389120" y="5074920"/>
            <a:ext cx="3383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D6EF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Distributed, streaming store (PySpark / RDDs) all agents read from and publish to in real time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2286000" y="3474720"/>
            <a:ext cx="0" cy="1097280"/>
          </a:xfrm>
          <a:prstGeom prst="line">
            <a:avLst/>
          </a:prstGeom>
          <a:noFill/>
          <a:ln w="15875">
            <a:solidFill>
              <a:srgbClr val="6FBFA0"/>
            </a:solidFill>
            <a:prstDash val="dash"/>
          </a:ln>
        </p:spPr>
      </p:sp>
      <p:sp>
        <p:nvSpPr>
          <p:cNvPr id="24" name="Shape 22"/>
          <p:cNvSpPr/>
          <p:nvPr/>
        </p:nvSpPr>
        <p:spPr>
          <a:xfrm>
            <a:off x="6172200" y="3474720"/>
            <a:ext cx="0" cy="1097280"/>
          </a:xfrm>
          <a:prstGeom prst="line">
            <a:avLst/>
          </a:prstGeom>
          <a:noFill/>
          <a:ln w="15875">
            <a:solidFill>
              <a:srgbClr val="6FBFA0"/>
            </a:solidFill>
            <a:prstDash val="dash"/>
          </a:ln>
        </p:spPr>
      </p:sp>
      <p:sp>
        <p:nvSpPr>
          <p:cNvPr id="25" name="Shape 23"/>
          <p:cNvSpPr/>
          <p:nvPr/>
        </p:nvSpPr>
        <p:spPr>
          <a:xfrm>
            <a:off x="10058400" y="3474720"/>
            <a:ext cx="0" cy="1097280"/>
          </a:xfrm>
          <a:prstGeom prst="line">
            <a:avLst/>
          </a:prstGeom>
          <a:noFill/>
          <a:ln w="15875">
            <a:solidFill>
              <a:srgbClr val="6FBFA0"/>
            </a:solidFill>
            <a:prstDash val="dash"/>
          </a:ln>
        </p:spPr>
      </p:sp>
      <p:sp>
        <p:nvSpPr>
          <p:cNvPr id="26" name="Text 24"/>
          <p:cNvSpPr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B9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ROLES · 01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9052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Sensor Agents — The Perception Layer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0149840" y="548640"/>
            <a:ext cx="1188720" cy="118872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5" name="Text 3"/>
          <p:cNvSpPr/>
          <p:nvPr/>
        </p:nvSpPr>
        <p:spPr>
          <a:xfrm>
            <a:off x="10149840" y="548640"/>
            <a:ext cx="1188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40080" y="1828800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Reactive agents that continuously perceive the environment through IoT sensors, satellite feeds, and public data streams, converting raw signals into structured events.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260604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Responsibilities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3017520"/>
            <a:ext cx="521208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9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 seismic, water-level, temperature, and wind-speed readings in real time</a:t>
            </a:r>
            <a:endParaRPr lang="en-US" sz="1250" dirty="0"/>
          </a:p>
          <a:p>
            <a:pPr marL="342900" indent="-342900">
              <a:lnSpc>
                <a:spcPts val="19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satellite imagery and social-media disaster reports via streaming pipelines</a:t>
            </a:r>
            <a:endParaRPr lang="en-US" sz="1250" dirty="0"/>
          </a:p>
          <a:p>
            <a:pPr marL="342900" indent="-342900">
              <a:lnSpc>
                <a:spcPts val="19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threshold and anomaly checks to flag abnormal readings immediately</a:t>
            </a:r>
            <a:endParaRPr lang="en-US" sz="1250" dirty="0"/>
          </a:p>
          <a:p>
            <a:pPr marL="342900" indent="-342900">
              <a:lnSpc>
                <a:spcPts val="19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 standardized event records to the shared data layer for downstream agents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172200" y="2606040"/>
            <a:ext cx="5349240" cy="3611880"/>
          </a:xfrm>
          <a:prstGeom prst="roundRect">
            <a:avLst>
              <a:gd name="adj" fmla="val 2025"/>
            </a:avLst>
          </a:prstGeom>
          <a:solidFill>
            <a:srgbClr val="F3EDE4"/>
          </a:solidFill>
          <a:ln/>
        </p:spPr>
      </p:sp>
      <p:sp>
        <p:nvSpPr>
          <p:cNvPr id="10" name="Text 8"/>
          <p:cNvSpPr/>
          <p:nvPr/>
        </p:nvSpPr>
        <p:spPr>
          <a:xfrm>
            <a:off x="6492240" y="278892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 &amp; Scale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92240" y="3200400"/>
            <a:ext cx="475488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8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PySpark Structured Streaming ingests high-velocity sensor feeds</a:t>
            </a:r>
            <a:endParaRPr lang="en-US" sz="1200" dirty="0"/>
          </a:p>
          <a:p>
            <a:pPr marL="342900" indent="-342900">
              <a:lnSpc>
                <a:spcPts val="18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RDD transformations filter noise and deduplicate overlapping reports</a:t>
            </a:r>
            <a:endParaRPr lang="en-US" sz="1200" dirty="0"/>
          </a:p>
          <a:p>
            <a:pPr marL="342900" indent="-342900">
              <a:lnSpc>
                <a:spcPts val="18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Horizontally scalable — new sensor zones add agents, not bottlenecks</a:t>
            </a:r>
            <a:endParaRPr lang="en-US" sz="1200" dirty="0"/>
          </a:p>
          <a:p>
            <a:pPr marL="342900" indent="-342900">
              <a:lnSpc>
                <a:spcPts val="18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Sub-second latency from raw signal to published event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9A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C1D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ROLES · 02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9052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Decision Agents — The Reasoning Layer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0149840" y="548640"/>
            <a:ext cx="1188720" cy="1188720"/>
          </a:xfrm>
          <a:prstGeom prst="ellipse">
            <a:avLst/>
          </a:prstGeom>
          <a:solidFill>
            <a:srgbClr val="8C1D18"/>
          </a:solidFill>
          <a:ln/>
        </p:spPr>
      </p:sp>
      <p:sp>
        <p:nvSpPr>
          <p:cNvPr id="5" name="Text 3"/>
          <p:cNvSpPr/>
          <p:nvPr/>
        </p:nvSpPr>
        <p:spPr>
          <a:xfrm>
            <a:off x="10149840" y="548640"/>
            <a:ext cx="1188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40080" y="1828800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Goal- and utility-based agents that interpret incoming events, weigh response options, and select the action that best reduces risk to life and property.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260604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Responsibilities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3017520"/>
            <a:ext cx="521208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9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Correlate multi-source events (e.g., rising water + rainfall + population density)</a:t>
            </a:r>
            <a:endParaRPr lang="en-US" sz="1250" dirty="0"/>
          </a:p>
          <a:p>
            <a:pPr marL="342900" indent="-342900">
              <a:lnSpc>
                <a:spcPts val="19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candidate responses using a utility function over safety, cost, and speed</a:t>
            </a:r>
            <a:endParaRPr lang="en-US" sz="1250" dirty="0"/>
          </a:p>
          <a:p>
            <a:pPr marL="342900" indent="-342900">
              <a:lnSpc>
                <a:spcPts val="19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and pursue explicit goals — evacuate zone, dispatch team, escalate alert level</a:t>
            </a:r>
            <a:endParaRPr lang="en-US" sz="1250" dirty="0"/>
          </a:p>
          <a:p>
            <a:pPr marL="342900" indent="-342900">
              <a:lnSpc>
                <a:spcPts val="19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Continuously revise plans as new sensor data updates the situational picture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172200" y="2606040"/>
            <a:ext cx="5349240" cy="3611880"/>
          </a:xfrm>
          <a:prstGeom prst="roundRect">
            <a:avLst>
              <a:gd name="adj" fmla="val 2025"/>
            </a:avLst>
          </a:prstGeom>
          <a:solidFill>
            <a:srgbClr val="F3EDE4"/>
          </a:solidFill>
          <a:ln/>
        </p:spPr>
      </p:sp>
      <p:sp>
        <p:nvSpPr>
          <p:cNvPr id="10" name="Text 8"/>
          <p:cNvSpPr/>
          <p:nvPr/>
        </p:nvSpPr>
        <p:spPr>
          <a:xfrm>
            <a:off x="6492240" y="278892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C1D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Logic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92240" y="3200400"/>
            <a:ext cx="475488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8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Rule-based triggers for known critical thresholds (fast path)</a:t>
            </a:r>
            <a:endParaRPr lang="en-US" sz="1200" dirty="0"/>
          </a:p>
          <a:p>
            <a:pPr marL="342900" indent="-342900">
              <a:lnSpc>
                <a:spcPts val="18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ML-scored risk models for ambiguous or compound events (adaptive path)</a:t>
            </a:r>
            <a:endParaRPr lang="en-US" sz="1200" dirty="0"/>
          </a:p>
          <a:p>
            <a:pPr marL="342900" indent="-342900">
              <a:lnSpc>
                <a:spcPts val="18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Utility values weigh population impact, response time, and resource cost</a:t>
            </a:r>
            <a:endParaRPr lang="en-US" sz="1200" dirty="0"/>
          </a:p>
          <a:p>
            <a:pPr marL="342900" indent="-342900">
              <a:lnSpc>
                <a:spcPts val="18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 a ranked action plan handed to communication agents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9A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ROLES · 03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9052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Communication Agents — The Coordination Layer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0149840" y="548640"/>
            <a:ext cx="1188720" cy="1188720"/>
          </a:xfrm>
          <a:prstGeom prst="ellipse">
            <a:avLst/>
          </a:prstGeom>
          <a:solidFill>
            <a:srgbClr val="445566"/>
          </a:solidFill>
          <a:ln/>
        </p:spPr>
      </p:sp>
      <p:sp>
        <p:nvSpPr>
          <p:cNvPr id="5" name="Text 3"/>
          <p:cNvSpPr/>
          <p:nvPr/>
        </p:nvSpPr>
        <p:spPr>
          <a:xfrm>
            <a:off x="10149840" y="548640"/>
            <a:ext cx="1188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40080" y="1828800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responsible for turning decisions into coordinated action — routing alerts, synchronizing responders, and keeping every stakeholder on a consistent shared picture.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260604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Responsibilities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3017520"/>
            <a:ext cx="521208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9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Broadcast alerts to public channels, sirens, and mobile push notifications</a:t>
            </a:r>
            <a:endParaRPr lang="en-US" sz="1250" dirty="0"/>
          </a:p>
          <a:p>
            <a:pPr marL="342900" indent="-342900">
              <a:lnSpc>
                <a:spcPts val="19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Relay coordinated tasks to field teams, hospitals, and emergency services</a:t>
            </a:r>
            <a:endParaRPr lang="en-US" sz="1250" dirty="0"/>
          </a:p>
          <a:p>
            <a:pPr marL="342900" indent="-342900">
              <a:lnSpc>
                <a:spcPts val="19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Negotiate resource conflicts between decision agents in overlapping zones</a:t>
            </a:r>
            <a:endParaRPr lang="en-US" sz="1250" dirty="0"/>
          </a:p>
          <a:p>
            <a:pPr marL="342900" indent="-342900">
              <a:lnSpc>
                <a:spcPts val="19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receipt and escalate if an acknowledgment is not received in time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172200" y="2606040"/>
            <a:ext cx="5349240" cy="3611880"/>
          </a:xfrm>
          <a:prstGeom prst="roundRect">
            <a:avLst>
              <a:gd name="adj" fmla="val 2025"/>
            </a:avLst>
          </a:prstGeom>
          <a:solidFill>
            <a:srgbClr val="F3EDE4"/>
          </a:solidFill>
          <a:ln/>
        </p:spPr>
      </p:sp>
      <p:sp>
        <p:nvSpPr>
          <p:cNvPr id="10" name="Text 8"/>
          <p:cNvSpPr/>
          <p:nvPr/>
        </p:nvSpPr>
        <p:spPr>
          <a:xfrm>
            <a:off x="6492240" y="278892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Reliability Measures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92240" y="3200400"/>
            <a:ext cx="475488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8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 queues ensure delivery even under network strain</a:t>
            </a:r>
            <a:endParaRPr lang="en-US" sz="1200" dirty="0"/>
          </a:p>
          <a:p>
            <a:pPr marL="342900" indent="-342900">
              <a:lnSpc>
                <a:spcPts val="18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Redundant channels (SMS, app, radio) prevent single-channel failure</a:t>
            </a:r>
            <a:endParaRPr lang="en-US" sz="1200" dirty="0"/>
          </a:p>
          <a:p>
            <a:pPr marL="342900" indent="-342900">
              <a:lnSpc>
                <a:spcPts val="18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routing surfaces life-critical alerts ahead of status updates</a:t>
            </a:r>
            <a:endParaRPr lang="en-US" sz="1200" dirty="0"/>
          </a:p>
          <a:p>
            <a:pPr marL="342900" indent="-342900">
              <a:lnSpc>
                <a:spcPts val="18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communications logged back to the shared data layer for audit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9A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C1D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TOGETHER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Coordination Strategies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10881360" cy="1097280"/>
          </a:xfrm>
          <a:prstGeom prst="rect">
            <a:avLst/>
          </a:prstGeom>
          <a:solidFill>
            <a:srgbClr val="F3EDE4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1947672"/>
            <a:ext cx="594360" cy="594360"/>
          </a:xfrm>
          <a:prstGeom prst="roundRect">
            <a:avLst>
              <a:gd name="adj" fmla="val 50769"/>
            </a:avLst>
          </a:prstGeom>
          <a:solidFill>
            <a:srgbClr val="8C1D18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947672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691640" y="1783080"/>
            <a:ext cx="2834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Blackboard Model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4709160" y="1783080"/>
            <a:ext cx="6675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agents read and write to the shared streaming data layer, so any agent can act on the latest situational state without direct point-to-point coupling.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40080" y="2880360"/>
            <a:ext cx="10881360" cy="10972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" name="Shape 8"/>
          <p:cNvSpPr/>
          <p:nvPr/>
        </p:nvSpPr>
        <p:spPr>
          <a:xfrm>
            <a:off x="822960" y="3136392"/>
            <a:ext cx="594360" cy="594360"/>
          </a:xfrm>
          <a:prstGeom prst="roundRect">
            <a:avLst>
              <a:gd name="adj" fmla="val 50769"/>
            </a:avLst>
          </a:prstGeom>
          <a:solidFill>
            <a:srgbClr val="8C1D18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3136392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691640" y="2971800"/>
            <a:ext cx="2834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Contract-Net Negotiation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4709160" y="2971800"/>
            <a:ext cx="6675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resources (rescue teams, medical units) are limited, decision agents bid for tasks and the best-suited agent is awarded the job.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40080" y="4069080"/>
            <a:ext cx="10881360" cy="1097280"/>
          </a:xfrm>
          <a:prstGeom prst="rect">
            <a:avLst/>
          </a:prstGeom>
          <a:solidFill>
            <a:srgbClr val="F3EDE4"/>
          </a:solidFill>
          <a:ln/>
        </p:spPr>
      </p:sp>
      <p:sp>
        <p:nvSpPr>
          <p:cNvPr id="15" name="Shape 13"/>
          <p:cNvSpPr/>
          <p:nvPr/>
        </p:nvSpPr>
        <p:spPr>
          <a:xfrm>
            <a:off x="822960" y="4325112"/>
            <a:ext cx="594360" cy="594360"/>
          </a:xfrm>
          <a:prstGeom prst="roundRect">
            <a:avLst>
              <a:gd name="adj" fmla="val 50769"/>
            </a:avLst>
          </a:prstGeom>
          <a:solidFill>
            <a:srgbClr val="8C1D18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4325112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691640" y="4160520"/>
            <a:ext cx="2834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Hierarchical Escalation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4709160" y="4160520"/>
            <a:ext cx="6675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agents resolve routine events; unresolved or high-severity events escalate to regional coordinator agents automatically.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40080" y="5257800"/>
            <a:ext cx="10881360" cy="10972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0" name="Shape 18"/>
          <p:cNvSpPr/>
          <p:nvPr/>
        </p:nvSpPr>
        <p:spPr>
          <a:xfrm>
            <a:off x="822960" y="5513832"/>
            <a:ext cx="594360" cy="594360"/>
          </a:xfrm>
          <a:prstGeom prst="roundRect">
            <a:avLst>
              <a:gd name="adj" fmla="val 50769"/>
            </a:avLst>
          </a:prstGeom>
          <a:solidFill>
            <a:srgbClr val="8C1D18"/>
          </a:solidFill>
          <a:ln/>
        </p:spPr>
      </p:sp>
      <p:sp>
        <p:nvSpPr>
          <p:cNvPr id="21" name="Text 19"/>
          <p:cNvSpPr/>
          <p:nvPr/>
        </p:nvSpPr>
        <p:spPr>
          <a:xfrm>
            <a:off x="822960" y="5513832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691640" y="5349240"/>
            <a:ext cx="2834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Consensus Voting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4709160" y="5349240"/>
            <a:ext cx="6675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borderline severity calls, multiple decision agents vote so no single faulty reading triggers an unnecessary mass evacuation.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9A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B2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THE HOOD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Sharing &amp; Real-Time Decision-Making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2606040" cy="2286000"/>
          </a:xfrm>
          <a:prstGeom prst="roundRect">
            <a:avLst>
              <a:gd name="adj" fmla="val 3200"/>
            </a:avLst>
          </a:prstGeom>
          <a:solidFill>
            <a:srgbClr val="3A3A3A"/>
          </a:solidFill>
          <a:ln w="15875">
            <a:solidFill>
              <a:srgbClr val="E8A33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205740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22960" y="251460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2880360"/>
            <a:ext cx="224028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D6D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agents stream events into Spark DStreams / Structured Streaming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64408" y="3063240"/>
            <a:ext cx="192024" cy="0"/>
          </a:xfrm>
          <a:prstGeom prst="line">
            <a:avLst/>
          </a:prstGeom>
          <a:noFill/>
          <a:ln w="25400">
            <a:solidFill>
              <a:srgbClr val="E8A33D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3474720" y="1920240"/>
            <a:ext cx="2606040" cy="2286000"/>
          </a:xfrm>
          <a:prstGeom prst="roundRect">
            <a:avLst>
              <a:gd name="adj" fmla="val 3200"/>
            </a:avLst>
          </a:prstGeom>
          <a:solidFill>
            <a:srgbClr val="3A3A3A"/>
          </a:solidFill>
          <a:ln w="15875">
            <a:solidFill>
              <a:srgbClr val="E8A33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0" y="205740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3657600" y="251460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657600" y="2880360"/>
            <a:ext cx="224028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D6D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RDD operations clean, join, and enrich events across sources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099048" y="3063240"/>
            <a:ext cx="192024" cy="0"/>
          </a:xfrm>
          <a:prstGeom prst="line">
            <a:avLst/>
          </a:prstGeom>
          <a:noFill/>
          <a:ln w="25400">
            <a:solidFill>
              <a:srgbClr val="E8A33D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6309360" y="1920240"/>
            <a:ext cx="2606040" cy="2286000"/>
          </a:xfrm>
          <a:prstGeom prst="roundRect">
            <a:avLst>
              <a:gd name="adj" fmla="val 3200"/>
            </a:avLst>
          </a:prstGeom>
          <a:solidFill>
            <a:srgbClr val="3A3A3A"/>
          </a:solidFill>
          <a:ln w="15875">
            <a:solidFill>
              <a:srgbClr val="E8A33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92240" y="205740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6492240" y="251460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492240" y="2880360"/>
            <a:ext cx="224028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D6D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agents score events and select an action in near real time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933688" y="3063240"/>
            <a:ext cx="192024" cy="0"/>
          </a:xfrm>
          <a:prstGeom prst="line">
            <a:avLst/>
          </a:prstGeom>
          <a:noFill/>
          <a:ln w="25400">
            <a:solidFill>
              <a:srgbClr val="E8A33D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9144000" y="1920240"/>
            <a:ext cx="2606040" cy="2286000"/>
          </a:xfrm>
          <a:prstGeom prst="roundRect">
            <a:avLst>
              <a:gd name="adj" fmla="val 3200"/>
            </a:avLst>
          </a:prstGeom>
          <a:solidFill>
            <a:srgbClr val="3A3A3A"/>
          </a:solidFill>
          <a:ln w="15875">
            <a:solidFill>
              <a:srgbClr val="E8A33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326880" y="205740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9326880" y="251460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Distribute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9326880" y="2880360"/>
            <a:ext cx="224028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D6D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 agents publish alerts and tasks to all stakeholders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40080" y="45262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Stays Fast at Scale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40080" y="4892040"/>
            <a:ext cx="106984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8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D6D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In-memory RDD caching avoids repeated disk reads during bursty event spikes</a:t>
            </a:r>
            <a:endParaRPr lang="en-US" sz="1250" dirty="0"/>
          </a:p>
          <a:p>
            <a:pPr marL="342900" indent="-342900">
              <a:lnSpc>
                <a:spcPts val="18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D6D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Partitioned data lets agents process regional zones fully in parallel</a:t>
            </a:r>
            <a:endParaRPr lang="en-US" sz="1250" dirty="0"/>
          </a:p>
          <a:p>
            <a:pPr marL="342900" indent="-342900">
              <a:lnSpc>
                <a:spcPts val="18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D6D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Fault-tolerant lineage recomputes lost partitions instead of stalling the pipeline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B9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C1D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PRACTICE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Scenario: Flash Flood Response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164592" cy="164592"/>
          </a:xfrm>
          <a:prstGeom prst="ellipse">
            <a:avLst/>
          </a:prstGeom>
          <a:solidFill>
            <a:srgbClr val="8C1D18"/>
          </a:solidFill>
          <a:ln/>
        </p:spPr>
      </p:sp>
      <p:sp>
        <p:nvSpPr>
          <p:cNvPr id="5" name="Shape 3"/>
          <p:cNvSpPr/>
          <p:nvPr/>
        </p:nvSpPr>
        <p:spPr>
          <a:xfrm>
            <a:off x="722376" y="1947672"/>
            <a:ext cx="0" cy="658368"/>
          </a:xfrm>
          <a:prstGeom prst="line">
            <a:avLst/>
          </a:prstGeom>
          <a:noFill/>
          <a:ln w="19050">
            <a:solidFill>
              <a:srgbClr val="D9C9C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1664208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8C1D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T+0s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2377440" y="1645920"/>
            <a:ext cx="9052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agents detect rapid water-level rise across three river-gauge zones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2651760"/>
            <a:ext cx="164592" cy="164592"/>
          </a:xfrm>
          <a:prstGeom prst="ellipse">
            <a:avLst/>
          </a:prstGeom>
          <a:solidFill>
            <a:srgbClr val="8C1D18"/>
          </a:solidFill>
          <a:ln/>
        </p:spPr>
      </p:sp>
      <p:sp>
        <p:nvSpPr>
          <p:cNvPr id="9" name="Shape 7"/>
          <p:cNvSpPr/>
          <p:nvPr/>
        </p:nvSpPr>
        <p:spPr>
          <a:xfrm>
            <a:off x="722376" y="2816352"/>
            <a:ext cx="0" cy="658368"/>
          </a:xfrm>
          <a:prstGeom prst="line">
            <a:avLst/>
          </a:prstGeom>
          <a:noFill/>
          <a:ln w="19050">
            <a:solidFill>
              <a:srgbClr val="D9C9C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2532888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8C1D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T+4s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2377440" y="2514600"/>
            <a:ext cx="9052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agent correlates readings with rainfall forecast, sets goal: evacuate low-lying zone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" y="3520440"/>
            <a:ext cx="164592" cy="164592"/>
          </a:xfrm>
          <a:prstGeom prst="ellipse">
            <a:avLst/>
          </a:prstGeom>
          <a:solidFill>
            <a:srgbClr val="8C1D18"/>
          </a:solidFill>
          <a:ln/>
        </p:spPr>
      </p:sp>
      <p:sp>
        <p:nvSpPr>
          <p:cNvPr id="13" name="Shape 11"/>
          <p:cNvSpPr/>
          <p:nvPr/>
        </p:nvSpPr>
        <p:spPr>
          <a:xfrm>
            <a:off x="722376" y="3685032"/>
            <a:ext cx="0" cy="658368"/>
          </a:xfrm>
          <a:prstGeom prst="line">
            <a:avLst/>
          </a:prstGeom>
          <a:noFill/>
          <a:ln w="19050">
            <a:solidFill>
              <a:srgbClr val="D9C9C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05840" y="3401568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8C1D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T+9s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2377440" y="3383280"/>
            <a:ext cx="9052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Contract-net negotiation assigns nearest rescue unit and shelter capacity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" y="4389120"/>
            <a:ext cx="164592" cy="164592"/>
          </a:xfrm>
          <a:prstGeom prst="ellipse">
            <a:avLst/>
          </a:prstGeom>
          <a:solidFill>
            <a:srgbClr val="8C1D18"/>
          </a:solidFill>
          <a:ln/>
        </p:spPr>
      </p:sp>
      <p:sp>
        <p:nvSpPr>
          <p:cNvPr id="17" name="Shape 15"/>
          <p:cNvSpPr/>
          <p:nvPr/>
        </p:nvSpPr>
        <p:spPr>
          <a:xfrm>
            <a:off x="722376" y="4553712"/>
            <a:ext cx="0" cy="658368"/>
          </a:xfrm>
          <a:prstGeom prst="line">
            <a:avLst/>
          </a:prstGeom>
          <a:noFill/>
          <a:ln w="19050">
            <a:solidFill>
              <a:srgbClr val="D9C9C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05840" y="4270248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8C1D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T+12s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2377440" y="4251960"/>
            <a:ext cx="9052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 agents broadcast evacuation alerts and route responder teams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40080" y="5257800"/>
            <a:ext cx="164592" cy="164592"/>
          </a:xfrm>
          <a:prstGeom prst="ellipse">
            <a:avLst/>
          </a:prstGeom>
          <a:solidFill>
            <a:srgbClr val="8C1D18"/>
          </a:solidFill>
          <a:ln/>
        </p:spPr>
      </p:sp>
      <p:sp>
        <p:nvSpPr>
          <p:cNvPr id="21" name="Text 19"/>
          <p:cNvSpPr/>
          <p:nvPr/>
        </p:nvSpPr>
        <p:spPr>
          <a:xfrm>
            <a:off x="1005840" y="5138928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8C1D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T+ongoing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2377440" y="5120640"/>
            <a:ext cx="9052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agents keep monitoring; plan updates automatically as conditions change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40080" y="5989320"/>
            <a:ext cx="10881360" cy="594360"/>
          </a:xfrm>
          <a:prstGeom prst="roundRect">
            <a:avLst>
              <a:gd name="adj" fmla="val 9231"/>
            </a:avLst>
          </a:prstGeom>
          <a:solidFill>
            <a:srgbClr val="F3EDE4"/>
          </a:solidFill>
          <a:ln/>
        </p:spPr>
      </p:sp>
      <p:sp>
        <p:nvSpPr>
          <p:cNvPr id="24" name="Text 22"/>
          <p:cNvSpPr/>
          <p:nvPr/>
        </p:nvSpPr>
        <p:spPr>
          <a:xfrm>
            <a:off x="868680" y="5989320"/>
            <a:ext cx="10424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Outcome: minutes saved through parallel sensing, negotiated response, and redundant alerting — not a single control loop.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9A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5C12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5303520"/>
            <a:ext cx="1005840" cy="1005840"/>
          </a:xfrm>
          <a:prstGeom prst="ellipse">
            <a:avLst/>
          </a:prstGeom>
          <a:ln w="12700">
            <a:solidFill>
              <a:srgbClr val="A640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275320" y="4800600"/>
            <a:ext cx="2011680" cy="2011680"/>
          </a:xfrm>
          <a:prstGeom prst="ellipse">
            <a:avLst/>
          </a:prstGeom>
          <a:ln w="12700">
            <a:solidFill>
              <a:srgbClr val="A6403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0" y="4297680"/>
            <a:ext cx="3017520" cy="3017520"/>
          </a:xfrm>
          <a:prstGeom prst="ellipse">
            <a:avLst/>
          </a:prstGeom>
          <a:ln w="12700">
            <a:solidFill>
              <a:srgbClr val="A6403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269480" y="3794760"/>
            <a:ext cx="4023360" cy="4023360"/>
          </a:xfrm>
          <a:prstGeom prst="ellipse">
            <a:avLst/>
          </a:prstGeom>
          <a:ln w="12700">
            <a:solidFill>
              <a:srgbClr val="A640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6400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1097280"/>
            <a:ext cx="8686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8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Resilience Through Distributed Intelligence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640080" y="2468880"/>
            <a:ext cx="77724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2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E8D9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Specialized sensor, decision, and communication agents outperform any single centralized controller</a:t>
            </a:r>
            <a:endParaRPr lang="en-US" sz="1450" dirty="0"/>
          </a:p>
          <a:p>
            <a:pPr marL="342900" indent="-342900">
              <a:lnSpc>
                <a:spcPts val="22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E8D9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PySpark-backed streaming and RDD operations give the system the scale disasters demand</a:t>
            </a:r>
            <a:endParaRPr lang="en-US" sz="1450" dirty="0"/>
          </a:p>
          <a:p>
            <a:pPr marL="342900" indent="-342900">
              <a:lnSpc>
                <a:spcPts val="22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E8D9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Coordination strategies keep hundreds of agents acting as one coherent response system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640080" y="4754880"/>
            <a:ext cx="1097280" cy="0"/>
          </a:xfrm>
          <a:prstGeom prst="line">
            <a:avLst/>
          </a:prstGeom>
          <a:noFill/>
          <a:ln w="38100">
            <a:solidFill>
              <a:srgbClr val="E8A33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502920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9B9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 •  Questions Welcome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2026-08-22T15:32:52Z</dcterms:created>
  <dcterms:modified xsi:type="dcterms:W3CDTF">2026-08-22T15:32:52Z</dcterms:modified>
</cp:coreProperties>
</file>